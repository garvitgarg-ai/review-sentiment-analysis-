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48" r:id="rId1"/>
  </p:sldMasterIdLst>
  <p:sldIdLst>
    <p:sldId id="257" r:id="rId2"/>
    <p:sldId id="258" r:id="rId3"/>
    <p:sldId id="272"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9144000"/>
  <p:embeddedFontLst>
    <p:embeddedFont>
      <p:font typeface="Century Gothic" panose="020B0502020202020204" pitchFamily="34" charset="0"/>
      <p:regular r:id="rId17"/>
      <p:bold r:id="rId18"/>
      <p:italic r:id="rId19"/>
      <p:boldItalic r:id="rId20"/>
    </p:embeddedFont>
    <p:embeddedFont>
      <p:font typeface="Wingdings 3" panose="05040102010807070707" pitchFamily="18" charset="2"/>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D5EBA-F53C-4D16-9AD9-2E4EB5F8F8C5}" v="2" dt="2026-02-15T16:26:34.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02527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F89F774-3FA6-43B8-9241-99959C8FD463}"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00225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13381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2/15/2026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07692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2/15/2026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01354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E15BF18-0007-481C-AA29-413124BC3EE7}" type="datetime1">
              <a:rPr lang="en-US" smtClean="0"/>
              <a:t>2/15/2026</a:t>
            </a:fld>
            <a:endParaRPr lang="en-US"/>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20971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9BE9870-3748-43AD-B547-02A075CB4A1D}" type="datetime1">
              <a:rPr lang="en-US" smtClean="0"/>
              <a:t>2/15/2026</a:t>
            </a:fld>
            <a:endParaRPr lang="en-US"/>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0866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58E7897-33C5-4F1A-9307-D068E37F3DC7}" type="datetime1">
              <a:rPr lang="en-US" smtClean="0"/>
              <a:t>2/15/2026</a:t>
            </a:fld>
            <a:endParaRPr lang="en-US"/>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2818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2/15/2026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04041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2/15/2026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238871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0026050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3131010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6646358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A38F49-B3E2-4BF0-BEC7-C30D34ABBB8D}" type="datetime1">
              <a:rPr lang="en-US" smtClean="0"/>
              <a:t>2/15/2026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7791678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A38F49-B3E2-4BF0-BEC7-C30D34ABBB8D}" type="datetime1">
              <a:rPr lang="en-US" smtClean="0"/>
              <a:t>2/15/2026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8173495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71491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2/15/2026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0804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DA38F49-B3E2-4BF0-BEC7-C30D34ABBB8D}" type="datetime1">
              <a:rPr lang="en-US" smtClean="0"/>
              <a:t>2/15/2026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3426117568"/>
      </p:ext>
    </p:extLst>
  </p:cSld>
  <p:clrMap bg1="dk1" tx1="lt1" bg2="dk2" tx2="lt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6" name="Rectangle 5">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9" name="Freeform: Shape 8">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FDFACB3D-983F-3976-FF2C-D85DCECAD017}"/>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REVIEW SENTIMENT ANALYSIS </a:t>
            </a:r>
            <a:endParaRPr lang="en-IN">
              <a:solidFill>
                <a:srgbClr val="FFFFFF"/>
              </a:solidFill>
            </a:endParaRPr>
          </a:p>
        </p:txBody>
      </p:sp>
      <p:sp>
        <p:nvSpPr>
          <p:cNvPr id="3" name="Content Placeholder 2">
            <a:extLst>
              <a:ext uri="{FF2B5EF4-FFF2-40B4-BE49-F238E27FC236}">
                <a16:creationId xmlns:a16="http://schemas.microsoft.com/office/drawing/2014/main" id="{6AF6B3D5-8586-60D8-57D6-BFB73C082CD6}"/>
              </a:ext>
            </a:extLst>
          </p:cNvPr>
          <p:cNvSpPr>
            <a:spLocks noGrp="1"/>
          </p:cNvSpPr>
          <p:nvPr>
            <p:ph idx="1"/>
          </p:nvPr>
        </p:nvSpPr>
        <p:spPr>
          <a:xfrm>
            <a:off x="1103312" y="2763520"/>
            <a:ext cx="8946541" cy="3484879"/>
          </a:xfrm>
        </p:spPr>
        <p:txBody>
          <a:bodyPr>
            <a:normAutofit/>
          </a:bodyPr>
          <a:lstStyle/>
          <a:p>
            <a:r>
              <a:rPr lang="en-US" b="1" dirty="0"/>
              <a:t>Course:</a:t>
            </a:r>
            <a:r>
              <a:rPr lang="en-US" dirty="0"/>
              <a:t> Artificial Intelligence</a:t>
            </a:r>
            <a:br>
              <a:rPr lang="en-US" dirty="0"/>
            </a:br>
            <a:r>
              <a:rPr lang="en-US" b="1" dirty="0"/>
              <a:t>Student:</a:t>
            </a:r>
            <a:r>
              <a:rPr lang="en-US" dirty="0"/>
              <a:t> Garvit Garg</a:t>
            </a:r>
            <a:br>
              <a:rPr lang="en-US" dirty="0"/>
            </a:br>
            <a:r>
              <a:rPr lang="en-US" b="1" dirty="0"/>
              <a:t>Department:</a:t>
            </a:r>
            <a:r>
              <a:rPr lang="en-US" dirty="0"/>
              <a:t> Computer Science &amp; Engineering</a:t>
            </a:r>
            <a:br>
              <a:rPr lang="en-US" dirty="0"/>
            </a:br>
            <a:r>
              <a:rPr lang="en-US" b="1" dirty="0"/>
              <a:t>University:</a:t>
            </a:r>
            <a:r>
              <a:rPr lang="en-US" dirty="0"/>
              <a:t> Manipal University Jaipur</a:t>
            </a:r>
            <a:br>
              <a:rPr lang="en-US" dirty="0"/>
            </a:br>
            <a:r>
              <a:rPr lang="en-US" b="1" dirty="0"/>
              <a:t>Year:</a:t>
            </a:r>
            <a:r>
              <a:rPr lang="en-US" dirty="0"/>
              <a:t> 2026</a:t>
            </a:r>
            <a:endParaRPr lang="en-IN" dirty="0"/>
          </a:p>
        </p:txBody>
      </p:sp>
    </p:spTree>
    <p:extLst>
      <p:ext uri="{BB962C8B-B14F-4D97-AF65-F5344CB8AC3E}">
        <p14:creationId xmlns:p14="http://schemas.microsoft.com/office/powerpoint/2010/main" val="33963044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6" name="Rectangle 5">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9" name="Freeform: Shape 8">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C2A143E7-82B6-FC7C-941C-B9C240FF305C}"/>
              </a:ext>
            </a:extLst>
          </p:cNvPr>
          <p:cNvSpPr>
            <a:spLocks noGrp="1"/>
          </p:cNvSpPr>
          <p:nvPr>
            <p:ph type="title"/>
          </p:nvPr>
        </p:nvSpPr>
        <p:spPr>
          <a:xfrm>
            <a:off x="1103312" y="452718"/>
            <a:ext cx="8947522" cy="1400530"/>
          </a:xfrm>
        </p:spPr>
        <p:txBody>
          <a:bodyPr anchor="ctr">
            <a:normAutofit/>
          </a:bodyPr>
          <a:lstStyle/>
          <a:p>
            <a:r>
              <a:rPr lang="en-US" sz="2800" dirty="0">
                <a:solidFill>
                  <a:schemeClr val="bg1"/>
                </a:solidFill>
              </a:rPr>
              <a:t>People express opinions online through reviews and comments. Manually reading thousands of reviews is difficult.</a:t>
            </a:r>
            <a:endParaRPr lang="en-IN" sz="2800" dirty="0">
              <a:solidFill>
                <a:schemeClr val="bg1"/>
              </a:solidFill>
            </a:endParaRPr>
          </a:p>
        </p:txBody>
      </p:sp>
      <p:sp>
        <p:nvSpPr>
          <p:cNvPr id="3" name="Content Placeholder 2">
            <a:extLst>
              <a:ext uri="{FF2B5EF4-FFF2-40B4-BE49-F238E27FC236}">
                <a16:creationId xmlns:a16="http://schemas.microsoft.com/office/drawing/2014/main" id="{E1B409AE-1B43-3E0D-8069-4A0CFBBDFAD5}"/>
              </a:ext>
            </a:extLst>
          </p:cNvPr>
          <p:cNvSpPr>
            <a:spLocks noGrp="1"/>
          </p:cNvSpPr>
          <p:nvPr>
            <p:ph idx="1"/>
          </p:nvPr>
        </p:nvSpPr>
        <p:spPr>
          <a:xfrm>
            <a:off x="1103312" y="2763520"/>
            <a:ext cx="8946541" cy="3484879"/>
          </a:xfrm>
        </p:spPr>
        <p:txBody>
          <a:bodyPr>
            <a:normAutofit/>
          </a:bodyPr>
          <a:lstStyle/>
          <a:p>
            <a:pPr marL="0" indent="0">
              <a:buNone/>
            </a:pPr>
            <a:r>
              <a:rPr lang="en-US" b="1" dirty="0"/>
              <a:t>Problem:</a:t>
            </a:r>
            <a:endParaRPr lang="en-US" dirty="0"/>
          </a:p>
          <a:p>
            <a:r>
              <a:rPr lang="en-US" dirty="0"/>
              <a:t>Companies cannot analyze large feedback quickly</a:t>
            </a:r>
          </a:p>
          <a:p>
            <a:r>
              <a:rPr lang="en-US" dirty="0"/>
              <a:t>Human analysis is slow and inconsistent</a:t>
            </a:r>
          </a:p>
          <a:p>
            <a:pPr marL="0" indent="0">
              <a:buNone/>
            </a:pPr>
            <a:r>
              <a:rPr lang="en-US" b="1" dirty="0"/>
              <a:t>Solution:</a:t>
            </a:r>
            <a:br>
              <a:rPr lang="en-US" dirty="0"/>
            </a:br>
            <a:r>
              <a:rPr lang="en-US" dirty="0"/>
              <a:t>Build an AI model that automatically detects whether a review is:</a:t>
            </a:r>
          </a:p>
          <a:p>
            <a:r>
              <a:rPr lang="en-US" dirty="0"/>
              <a:t>Positive</a:t>
            </a:r>
          </a:p>
          <a:p>
            <a:r>
              <a:rPr lang="en-US" dirty="0"/>
              <a:t>Negative</a:t>
            </a:r>
          </a:p>
          <a:p>
            <a:endParaRPr lang="en-IN" dirty="0"/>
          </a:p>
        </p:txBody>
      </p:sp>
      <p:sp>
        <p:nvSpPr>
          <p:cNvPr id="11" name="Arrow: Right 10">
            <a:extLst>
              <a:ext uri="{FF2B5EF4-FFF2-40B4-BE49-F238E27FC236}">
                <a16:creationId xmlns:a16="http://schemas.microsoft.com/office/drawing/2014/main" id="{E16BC291-7F7F-49EE-927A-CCD460FDA23C}"/>
              </a:ext>
            </a:extLst>
          </p:cNvPr>
          <p:cNvSpPr/>
          <p:nvPr/>
        </p:nvSpPr>
        <p:spPr>
          <a:xfrm>
            <a:off x="1268360" y="330784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a16="http://schemas.microsoft.com/office/drawing/2014/main" id="{486A4D5E-5E91-ED62-D176-146FF16B9D06}"/>
              </a:ext>
            </a:extLst>
          </p:cNvPr>
          <p:cNvSpPr/>
          <p:nvPr/>
        </p:nvSpPr>
        <p:spPr>
          <a:xfrm>
            <a:off x="1268360" y="3731877"/>
            <a:ext cx="147485" cy="2402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631A9BA0-727F-6C3B-566B-5EDAA25924B3}"/>
              </a:ext>
            </a:extLst>
          </p:cNvPr>
          <p:cNvSpPr/>
          <p:nvPr/>
        </p:nvSpPr>
        <p:spPr>
          <a:xfrm>
            <a:off x="1268360" y="4430813"/>
            <a:ext cx="147485" cy="2402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89AE87BD-F9A3-8FB1-F924-10E528B6735C}"/>
              </a:ext>
            </a:extLst>
          </p:cNvPr>
          <p:cNvSpPr/>
          <p:nvPr/>
        </p:nvSpPr>
        <p:spPr>
          <a:xfrm>
            <a:off x="1268360" y="4898218"/>
            <a:ext cx="147485" cy="2402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092FCC8A-B5A5-EE4D-ACD1-DCFFF5052A87}"/>
              </a:ext>
            </a:extLst>
          </p:cNvPr>
          <p:cNvSpPr/>
          <p:nvPr/>
        </p:nvSpPr>
        <p:spPr>
          <a:xfrm>
            <a:off x="1268359" y="5312225"/>
            <a:ext cx="147485" cy="2402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32860882"/>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69432C-81A4-BA1E-3527-823FE48F656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BFA4FE6-41A8-C54D-89E0-69A377088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6" name="Rectangle 5">
            <a:extLst>
              <a:ext uri="{FF2B5EF4-FFF2-40B4-BE49-F238E27FC236}">
                <a16:creationId xmlns:a16="http://schemas.microsoft.com/office/drawing/2014/main" id="{703692CB-8D28-4D9F-6D0C-2C7D5D6B0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Freeform 7">
            <a:extLst>
              <a:ext uri="{FF2B5EF4-FFF2-40B4-BE49-F238E27FC236}">
                <a16:creationId xmlns:a16="http://schemas.microsoft.com/office/drawing/2014/main" id="{0FCF61A5-DDC0-5CD8-B36C-8F4B55F30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9" name="Freeform: Shape 8">
            <a:extLst>
              <a:ext uri="{FF2B5EF4-FFF2-40B4-BE49-F238E27FC236}">
                <a16:creationId xmlns:a16="http://schemas.microsoft.com/office/drawing/2014/main" id="{ACA68F7C-DFAF-A408-40E2-B7F7AF61B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E3279BB7-5223-A203-D82C-9FF44C28A3F6}"/>
              </a:ext>
            </a:extLst>
          </p:cNvPr>
          <p:cNvSpPr>
            <a:spLocks noGrp="1"/>
          </p:cNvSpPr>
          <p:nvPr>
            <p:ph type="title"/>
          </p:nvPr>
        </p:nvSpPr>
        <p:spPr>
          <a:xfrm>
            <a:off x="1103312" y="452718"/>
            <a:ext cx="8947522" cy="1400530"/>
          </a:xfrm>
        </p:spPr>
        <p:txBody>
          <a:bodyPr anchor="ctr">
            <a:normAutofit/>
          </a:bodyPr>
          <a:lstStyle/>
          <a:p>
            <a:r>
              <a:rPr lang="en-US" sz="6000" dirty="0">
                <a:solidFill>
                  <a:schemeClr val="bg1"/>
                </a:solidFill>
              </a:rPr>
              <a:t>PROBLEM STATEMENT </a:t>
            </a:r>
            <a:endParaRPr lang="en-IN" sz="6000" dirty="0">
              <a:solidFill>
                <a:schemeClr val="bg1"/>
              </a:solidFill>
            </a:endParaRPr>
          </a:p>
        </p:txBody>
      </p:sp>
      <p:sp>
        <p:nvSpPr>
          <p:cNvPr id="3" name="Content Placeholder 2">
            <a:extLst>
              <a:ext uri="{FF2B5EF4-FFF2-40B4-BE49-F238E27FC236}">
                <a16:creationId xmlns:a16="http://schemas.microsoft.com/office/drawing/2014/main" id="{D6EA3EB9-2647-32C9-5915-055DCBD9ADF6}"/>
              </a:ext>
            </a:extLst>
          </p:cNvPr>
          <p:cNvSpPr>
            <a:spLocks noGrp="1"/>
          </p:cNvSpPr>
          <p:nvPr>
            <p:ph idx="1"/>
          </p:nvPr>
        </p:nvSpPr>
        <p:spPr>
          <a:xfrm>
            <a:off x="1103312" y="2763520"/>
            <a:ext cx="8946541" cy="3484879"/>
          </a:xfrm>
        </p:spPr>
        <p:txBody>
          <a:bodyPr>
            <a:normAutofit/>
          </a:bodyPr>
          <a:lstStyle/>
          <a:p>
            <a:r>
              <a:rPr lang="en-US" sz="2400" dirty="0"/>
              <a:t>In the digital era, users frequently share opinions through online reviews and feedback platforms. These reviews contain valuable information for companies and consumers, but analyzing thousands of text reviews manually is time-consuming, inconsistent, and impractical.</a:t>
            </a:r>
          </a:p>
          <a:p>
            <a:r>
              <a:rPr lang="en-US" sz="2400" dirty="0"/>
              <a:t>Therefore, there is a need for an automated system that can understand and classify textual data efficiently.</a:t>
            </a:r>
          </a:p>
        </p:txBody>
      </p:sp>
    </p:spTree>
    <p:extLst>
      <p:ext uri="{BB962C8B-B14F-4D97-AF65-F5344CB8AC3E}">
        <p14:creationId xmlns:p14="http://schemas.microsoft.com/office/powerpoint/2010/main" val="182474081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6DA3B698-0317-C473-7E01-D7F050A253C4}"/>
              </a:ext>
            </a:extLst>
          </p:cNvPr>
          <p:cNvSpPr>
            <a:spLocks noGrp="1"/>
          </p:cNvSpPr>
          <p:nvPr>
            <p:ph type="title"/>
          </p:nvPr>
        </p:nvSpPr>
        <p:spPr>
          <a:xfrm>
            <a:off x="1103312" y="452718"/>
            <a:ext cx="8947522" cy="1400530"/>
          </a:xfrm>
        </p:spPr>
        <p:txBody>
          <a:bodyPr anchor="ctr">
            <a:normAutofit/>
          </a:bodyPr>
          <a:lstStyle/>
          <a:p>
            <a:r>
              <a:rPr lang="en-IN" sz="6600" dirty="0">
                <a:solidFill>
                  <a:schemeClr val="bg1"/>
                </a:solidFill>
              </a:rPr>
              <a:t>OBJECTIVES  </a:t>
            </a:r>
          </a:p>
        </p:txBody>
      </p:sp>
      <p:sp>
        <p:nvSpPr>
          <p:cNvPr id="3" name="Content Placeholder 2">
            <a:extLst>
              <a:ext uri="{FF2B5EF4-FFF2-40B4-BE49-F238E27FC236}">
                <a16:creationId xmlns:a16="http://schemas.microsoft.com/office/drawing/2014/main" id="{EDC28D00-67B4-B782-D82C-94EBC35B2D19}"/>
              </a:ext>
            </a:extLst>
          </p:cNvPr>
          <p:cNvSpPr>
            <a:spLocks noGrp="1"/>
          </p:cNvSpPr>
          <p:nvPr>
            <p:ph idx="1"/>
          </p:nvPr>
        </p:nvSpPr>
        <p:spPr>
          <a:xfrm>
            <a:off x="1103312" y="2763520"/>
            <a:ext cx="8946541" cy="3484879"/>
          </a:xfrm>
        </p:spPr>
        <p:txBody>
          <a:bodyPr>
            <a:normAutofit/>
          </a:bodyPr>
          <a:lstStyle/>
          <a:p>
            <a:pPr marL="0" indent="0">
              <a:buNone/>
            </a:pPr>
            <a:r>
              <a:rPr lang="en-US" b="1" dirty="0"/>
              <a:t>The goal of this project is:</a:t>
            </a:r>
          </a:p>
          <a:p>
            <a:r>
              <a:rPr lang="en-US" dirty="0"/>
              <a:t>Automatically classify movie reviews</a:t>
            </a:r>
          </a:p>
          <a:p>
            <a:r>
              <a:rPr lang="en-US" dirty="0"/>
              <a:t>Apply NLP preprocessing techniques</a:t>
            </a:r>
          </a:p>
          <a:p>
            <a:r>
              <a:rPr lang="en-US" dirty="0"/>
              <a:t>Train a Machine Learning model</a:t>
            </a:r>
          </a:p>
          <a:p>
            <a:r>
              <a:rPr lang="en-US" dirty="0"/>
              <a:t>Achieve high prediction accuracy</a:t>
            </a:r>
          </a:p>
          <a:p>
            <a:r>
              <a:rPr lang="en-US" dirty="0"/>
              <a:t>Allow custom user input prediction</a:t>
            </a:r>
          </a:p>
          <a:p>
            <a:endParaRPr lang="en-IN" dirty="0"/>
          </a:p>
        </p:txBody>
      </p:sp>
      <p:sp>
        <p:nvSpPr>
          <p:cNvPr id="4" name="Arrow: Right 3">
            <a:extLst>
              <a:ext uri="{FF2B5EF4-FFF2-40B4-BE49-F238E27FC236}">
                <a16:creationId xmlns:a16="http://schemas.microsoft.com/office/drawing/2014/main" id="{FD707FF0-4886-2210-AC0E-0B80634AAF17}"/>
              </a:ext>
            </a:extLst>
          </p:cNvPr>
          <p:cNvSpPr/>
          <p:nvPr/>
        </p:nvSpPr>
        <p:spPr>
          <a:xfrm>
            <a:off x="1268360" y="330784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7008F648-823C-7A69-D7E1-457CCA783A40}"/>
              </a:ext>
            </a:extLst>
          </p:cNvPr>
          <p:cNvSpPr/>
          <p:nvPr/>
        </p:nvSpPr>
        <p:spPr>
          <a:xfrm>
            <a:off x="1268360" y="3733800"/>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8F20BB2D-3704-0AF9-FA1D-5A1B9B7DAB4F}"/>
              </a:ext>
            </a:extLst>
          </p:cNvPr>
          <p:cNvSpPr/>
          <p:nvPr/>
        </p:nvSpPr>
        <p:spPr>
          <a:xfrm>
            <a:off x="1268359" y="4188875"/>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02C29804-C8DB-9311-C4E8-40F49F8076F4}"/>
              </a:ext>
            </a:extLst>
          </p:cNvPr>
          <p:cNvSpPr/>
          <p:nvPr/>
        </p:nvSpPr>
        <p:spPr>
          <a:xfrm>
            <a:off x="1268358" y="4611870"/>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A476CF56-C1C9-A5C7-A7E3-5AAD1AE75FD7}"/>
              </a:ext>
            </a:extLst>
          </p:cNvPr>
          <p:cNvSpPr/>
          <p:nvPr/>
        </p:nvSpPr>
        <p:spPr>
          <a:xfrm>
            <a:off x="1268358" y="5019914"/>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1920754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796C1A-E00E-9FE5-ACA4-AE02256BE70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BC0B124-97D3-9F08-CBD8-F8E47D90B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57DD9F27-2F9B-DF9A-1FF4-96B095022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45511611-F1A6-B50A-E88B-91B78A04E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0F5F464E-E284-2F68-128D-3CF3B89DE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E5F45832-C132-0B38-AC79-8FF8F2609A6C}"/>
              </a:ext>
            </a:extLst>
          </p:cNvPr>
          <p:cNvSpPr>
            <a:spLocks noGrp="1"/>
          </p:cNvSpPr>
          <p:nvPr>
            <p:ph type="title"/>
          </p:nvPr>
        </p:nvSpPr>
        <p:spPr>
          <a:xfrm>
            <a:off x="1103312" y="452718"/>
            <a:ext cx="8947522" cy="1400530"/>
          </a:xfrm>
        </p:spPr>
        <p:txBody>
          <a:bodyPr anchor="ctr">
            <a:normAutofit/>
          </a:bodyPr>
          <a:lstStyle/>
          <a:p>
            <a:r>
              <a:rPr lang="en-IN" sz="6600" dirty="0">
                <a:solidFill>
                  <a:schemeClr val="bg1"/>
                </a:solidFill>
              </a:rPr>
              <a:t>DATASET </a:t>
            </a:r>
          </a:p>
        </p:txBody>
      </p:sp>
      <p:sp>
        <p:nvSpPr>
          <p:cNvPr id="3" name="Content Placeholder 2">
            <a:extLst>
              <a:ext uri="{FF2B5EF4-FFF2-40B4-BE49-F238E27FC236}">
                <a16:creationId xmlns:a16="http://schemas.microsoft.com/office/drawing/2014/main" id="{117B4D97-370E-AFAC-9F06-3E2494C60324}"/>
              </a:ext>
            </a:extLst>
          </p:cNvPr>
          <p:cNvSpPr>
            <a:spLocks noGrp="1"/>
          </p:cNvSpPr>
          <p:nvPr>
            <p:ph idx="1"/>
          </p:nvPr>
        </p:nvSpPr>
        <p:spPr>
          <a:xfrm>
            <a:off x="1103312" y="2763520"/>
            <a:ext cx="8946541" cy="3484879"/>
          </a:xfrm>
        </p:spPr>
        <p:txBody>
          <a:bodyPr>
            <a:normAutofit/>
          </a:bodyPr>
          <a:lstStyle/>
          <a:p>
            <a:pPr marL="0" indent="0">
              <a:buNone/>
            </a:pPr>
            <a:r>
              <a:rPr lang="en-US" b="1" dirty="0"/>
              <a:t>Dataset Used:</a:t>
            </a:r>
            <a:r>
              <a:rPr lang="en-US" dirty="0"/>
              <a:t> IMDB Movie Reviews Dataset</a:t>
            </a:r>
          </a:p>
          <a:p>
            <a:r>
              <a:rPr lang="en-US" dirty="0"/>
              <a:t>50,000 movie reviews</a:t>
            </a:r>
          </a:p>
          <a:p>
            <a:r>
              <a:rPr lang="en-US" dirty="0"/>
              <a:t>Balanced dataset (positive &amp; negative)</a:t>
            </a:r>
          </a:p>
          <a:p>
            <a:r>
              <a:rPr lang="en-US" dirty="0"/>
              <a:t>Real user-generated text</a:t>
            </a:r>
          </a:p>
          <a:p>
            <a:pPr marL="0" indent="0">
              <a:buNone/>
            </a:pPr>
            <a:r>
              <a:rPr lang="en-US" b="1" dirty="0"/>
              <a:t>Columns:</a:t>
            </a:r>
            <a:endParaRPr lang="en-US" dirty="0"/>
          </a:p>
          <a:p>
            <a:r>
              <a:rPr lang="en-US" dirty="0"/>
              <a:t>Review (Text)</a:t>
            </a:r>
          </a:p>
          <a:p>
            <a:r>
              <a:rPr lang="en-US" dirty="0"/>
              <a:t>Sentiment (Label)</a:t>
            </a:r>
          </a:p>
        </p:txBody>
      </p:sp>
      <p:sp>
        <p:nvSpPr>
          <p:cNvPr id="4" name="Arrow: Right 3">
            <a:extLst>
              <a:ext uri="{FF2B5EF4-FFF2-40B4-BE49-F238E27FC236}">
                <a16:creationId xmlns:a16="http://schemas.microsoft.com/office/drawing/2014/main" id="{5977CA5E-0A6B-E70E-5388-03F6A2DC2C9A}"/>
              </a:ext>
            </a:extLst>
          </p:cNvPr>
          <p:cNvSpPr/>
          <p:nvPr/>
        </p:nvSpPr>
        <p:spPr>
          <a:xfrm>
            <a:off x="1268360" y="330784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4368CD32-D9A9-B9B0-0913-AA552F05429F}"/>
              </a:ext>
            </a:extLst>
          </p:cNvPr>
          <p:cNvSpPr/>
          <p:nvPr/>
        </p:nvSpPr>
        <p:spPr>
          <a:xfrm>
            <a:off x="1268360" y="3733800"/>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67723CFA-E0C6-1E4C-32B2-1CDED9178545}"/>
              </a:ext>
            </a:extLst>
          </p:cNvPr>
          <p:cNvSpPr/>
          <p:nvPr/>
        </p:nvSpPr>
        <p:spPr>
          <a:xfrm>
            <a:off x="1268359" y="4188875"/>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474B2219-5BFF-903E-14A9-8122A5470B8A}"/>
              </a:ext>
            </a:extLst>
          </p:cNvPr>
          <p:cNvSpPr/>
          <p:nvPr/>
        </p:nvSpPr>
        <p:spPr>
          <a:xfrm>
            <a:off x="1268358" y="5036900"/>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7E97D691-2C2B-E5DE-0F56-9A5E40938405}"/>
              </a:ext>
            </a:extLst>
          </p:cNvPr>
          <p:cNvSpPr/>
          <p:nvPr/>
        </p:nvSpPr>
        <p:spPr>
          <a:xfrm>
            <a:off x="1268358" y="5430134"/>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2608276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070F90-FA43-DCBB-EA29-1FA4FF37D32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68AA860-0F04-300B-0692-742A52E87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6C1A815-1017-2461-BDA5-3526C5D3D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5C5E67E4-3B01-D3F3-2B2E-645F119471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D073D40F-5F26-D8D3-0110-1F001EB24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2FDAC7ED-8A83-A420-BF23-571F34F62F98}"/>
              </a:ext>
            </a:extLst>
          </p:cNvPr>
          <p:cNvSpPr>
            <a:spLocks noGrp="1"/>
          </p:cNvSpPr>
          <p:nvPr>
            <p:ph type="title"/>
          </p:nvPr>
        </p:nvSpPr>
        <p:spPr>
          <a:xfrm>
            <a:off x="1103312" y="452718"/>
            <a:ext cx="8947522" cy="1400530"/>
          </a:xfrm>
        </p:spPr>
        <p:txBody>
          <a:bodyPr anchor="ctr">
            <a:normAutofit/>
          </a:bodyPr>
          <a:lstStyle/>
          <a:p>
            <a:r>
              <a:rPr lang="en-IN" sz="5700" dirty="0">
                <a:solidFill>
                  <a:schemeClr val="bg1"/>
                </a:solidFill>
              </a:rPr>
              <a:t>Methodology(Workflow) </a:t>
            </a:r>
          </a:p>
        </p:txBody>
      </p:sp>
      <p:sp>
        <p:nvSpPr>
          <p:cNvPr id="15" name="Rectangle 3">
            <a:extLst>
              <a:ext uri="{FF2B5EF4-FFF2-40B4-BE49-F238E27FC236}">
                <a16:creationId xmlns:a16="http://schemas.microsoft.com/office/drawing/2014/main" id="{59645DE0-E9AC-6A04-4981-740A0BAAEB38}"/>
              </a:ext>
            </a:extLst>
          </p:cNvPr>
          <p:cNvSpPr>
            <a:spLocks noGrp="1" noChangeArrowheads="1"/>
          </p:cNvSpPr>
          <p:nvPr>
            <p:ph idx="1"/>
          </p:nvPr>
        </p:nvSpPr>
        <p:spPr bwMode="auto">
          <a:xfrm>
            <a:off x="1103313" y="2797959"/>
            <a:ext cx="59586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u="none" strike="noStrike" cap="none" normalizeH="0" baseline="0" dirty="0">
                <a:ln>
                  <a:noFill/>
                </a:ln>
                <a:solidFill>
                  <a:schemeClr val="tx1"/>
                </a:solidFill>
                <a:effectLst/>
              </a:rPr>
              <a:t>Data Collection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u="none" strike="noStrike" cap="none" normalizeH="0" baseline="0" dirty="0">
                <a:ln>
                  <a:noFill/>
                </a:ln>
                <a:solidFill>
                  <a:schemeClr val="tx1"/>
                </a:solidFill>
                <a:effectLst/>
              </a:rPr>
              <a:t>Text Cleaning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u="none" strike="noStrike" cap="none" normalizeH="0" baseline="0" dirty="0">
                <a:ln>
                  <a:noFill/>
                </a:ln>
                <a:solidFill>
                  <a:schemeClr val="tx1"/>
                </a:solidFill>
                <a:effectLst/>
              </a:rPr>
              <a:t>Feature Extraction (TF-IDF)</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u="none" strike="noStrike" cap="none" normalizeH="0" baseline="0" dirty="0">
                <a:ln>
                  <a:noFill/>
                </a:ln>
                <a:solidFill>
                  <a:schemeClr val="tx1"/>
                </a:solidFill>
                <a:effectLst/>
              </a:rPr>
              <a:t>Train-Test Split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u="none" strike="noStrike" cap="none" normalizeH="0" baseline="0" dirty="0">
                <a:ln>
                  <a:noFill/>
                </a:ln>
                <a:solidFill>
                  <a:schemeClr val="tx1"/>
                </a:solidFill>
                <a:effectLst/>
              </a:rPr>
              <a:t>Model Training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u="none" strike="noStrike" cap="none" normalizeH="0" baseline="0" dirty="0">
                <a:ln>
                  <a:noFill/>
                </a:ln>
                <a:solidFill>
                  <a:schemeClr val="tx1"/>
                </a:solidFill>
                <a:effectLst/>
              </a:rPr>
              <a:t>Prediction</a:t>
            </a:r>
          </a:p>
        </p:txBody>
      </p:sp>
      <p:sp>
        <p:nvSpPr>
          <p:cNvPr id="16" name="Arrow: Right 15">
            <a:extLst>
              <a:ext uri="{FF2B5EF4-FFF2-40B4-BE49-F238E27FC236}">
                <a16:creationId xmlns:a16="http://schemas.microsoft.com/office/drawing/2014/main" id="{2F6C0C36-58D0-D2E5-F7A6-2E805448C6BE}"/>
              </a:ext>
            </a:extLst>
          </p:cNvPr>
          <p:cNvSpPr/>
          <p:nvPr/>
        </p:nvSpPr>
        <p:spPr>
          <a:xfrm>
            <a:off x="955827" y="3041439"/>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A784A5E6-2B92-DE7C-F031-04EE965C845C}"/>
              </a:ext>
            </a:extLst>
          </p:cNvPr>
          <p:cNvSpPr/>
          <p:nvPr/>
        </p:nvSpPr>
        <p:spPr>
          <a:xfrm>
            <a:off x="950913" y="3574246"/>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B86CB360-7A1C-6A42-89F0-74EC3B4C8AB5}"/>
              </a:ext>
            </a:extLst>
          </p:cNvPr>
          <p:cNvSpPr/>
          <p:nvPr/>
        </p:nvSpPr>
        <p:spPr>
          <a:xfrm>
            <a:off x="950912" y="4118399"/>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2B7FE70F-A0F7-2782-D07F-2C11E7850978}"/>
              </a:ext>
            </a:extLst>
          </p:cNvPr>
          <p:cNvSpPr/>
          <p:nvPr/>
        </p:nvSpPr>
        <p:spPr>
          <a:xfrm>
            <a:off x="950911" y="4651206"/>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712E7294-B6B8-9089-AC9E-139179BB3E92}"/>
              </a:ext>
            </a:extLst>
          </p:cNvPr>
          <p:cNvSpPr/>
          <p:nvPr/>
        </p:nvSpPr>
        <p:spPr>
          <a:xfrm>
            <a:off x="950911" y="5245883"/>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D6531464-225A-76E5-99B2-9711D3F0F4AC}"/>
              </a:ext>
            </a:extLst>
          </p:cNvPr>
          <p:cNvSpPr/>
          <p:nvPr/>
        </p:nvSpPr>
        <p:spPr>
          <a:xfrm>
            <a:off x="950910" y="5790036"/>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8391839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0FAB3D-F4E6-5E8F-F2DB-C6952B117C9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94F8217-2EC6-BBAC-513B-A11D61A07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9526F6C4-AE46-EDD2-69DB-5D34D64283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96FC149B-27A4-643C-3975-40BBC4DF47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98E1C591-79F7-6563-A1B9-F72F1D008E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E6CAD1AC-5908-57BA-C2FF-7B2BB9BA282F}"/>
              </a:ext>
            </a:extLst>
          </p:cNvPr>
          <p:cNvSpPr>
            <a:spLocks noGrp="1"/>
          </p:cNvSpPr>
          <p:nvPr>
            <p:ph type="title"/>
          </p:nvPr>
        </p:nvSpPr>
        <p:spPr>
          <a:xfrm>
            <a:off x="1103312" y="452718"/>
            <a:ext cx="8947522" cy="1400530"/>
          </a:xfrm>
        </p:spPr>
        <p:txBody>
          <a:bodyPr anchor="ctr">
            <a:normAutofit/>
          </a:bodyPr>
          <a:lstStyle/>
          <a:p>
            <a:r>
              <a:rPr lang="en-IN" sz="6000" dirty="0">
                <a:solidFill>
                  <a:schemeClr val="bg1"/>
                </a:solidFill>
              </a:rPr>
              <a:t>TEXT PREPROCESSING </a:t>
            </a:r>
          </a:p>
        </p:txBody>
      </p:sp>
      <p:sp>
        <p:nvSpPr>
          <p:cNvPr id="15" name="Rectangle 3">
            <a:extLst>
              <a:ext uri="{FF2B5EF4-FFF2-40B4-BE49-F238E27FC236}">
                <a16:creationId xmlns:a16="http://schemas.microsoft.com/office/drawing/2014/main" id="{31429CDA-9BB3-8D25-04FA-B9BD08167C48}"/>
              </a:ext>
            </a:extLst>
          </p:cNvPr>
          <p:cNvSpPr>
            <a:spLocks noGrp="1" noChangeArrowheads="1"/>
          </p:cNvSpPr>
          <p:nvPr>
            <p:ph idx="1"/>
          </p:nvPr>
        </p:nvSpPr>
        <p:spPr bwMode="auto">
          <a:xfrm>
            <a:off x="1103313" y="2415804"/>
            <a:ext cx="10803552" cy="4180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a:t>Text preprocessing steps:</a:t>
            </a:r>
          </a:p>
          <a:p>
            <a:r>
              <a:rPr lang="en-US" sz="2800" dirty="0"/>
              <a:t>Convert text to lowercase</a:t>
            </a:r>
          </a:p>
          <a:p>
            <a:r>
              <a:rPr lang="en-US" sz="2800" dirty="0"/>
              <a:t>Remove HTML tags</a:t>
            </a:r>
          </a:p>
          <a:p>
            <a:r>
              <a:rPr lang="en-US" sz="2800" dirty="0"/>
              <a:t>Remove punctuation &amp; numbers</a:t>
            </a:r>
          </a:p>
          <a:p>
            <a:r>
              <a:rPr lang="en-US" sz="2800" dirty="0"/>
              <a:t>Remove stop words</a:t>
            </a:r>
          </a:p>
          <a:p>
            <a:r>
              <a:rPr lang="en-US" sz="2800" b="1" dirty="0"/>
              <a:t>Purpose:</a:t>
            </a:r>
            <a:br>
              <a:rPr lang="en-US" sz="2800" dirty="0"/>
            </a:br>
            <a:r>
              <a:rPr lang="en-US" sz="2800" dirty="0"/>
              <a:t>Make text understandable for machine learning algorithms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u="none" strike="noStrike" cap="none" normalizeH="0" baseline="0" dirty="0">
              <a:ln>
                <a:noFill/>
              </a:ln>
              <a:solidFill>
                <a:schemeClr val="tx1"/>
              </a:solidFill>
              <a:effectLst/>
            </a:endParaRPr>
          </a:p>
        </p:txBody>
      </p:sp>
      <p:sp>
        <p:nvSpPr>
          <p:cNvPr id="16" name="Arrow: Right 15">
            <a:extLst>
              <a:ext uri="{FF2B5EF4-FFF2-40B4-BE49-F238E27FC236}">
                <a16:creationId xmlns:a16="http://schemas.microsoft.com/office/drawing/2014/main" id="{32451E28-44C9-A78B-08D9-EFD86053E145}"/>
              </a:ext>
            </a:extLst>
          </p:cNvPr>
          <p:cNvSpPr/>
          <p:nvPr/>
        </p:nvSpPr>
        <p:spPr>
          <a:xfrm>
            <a:off x="1211466" y="3131069"/>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52708420-CBBD-B703-3FB7-4EF6C0771636}"/>
              </a:ext>
            </a:extLst>
          </p:cNvPr>
          <p:cNvSpPr/>
          <p:nvPr/>
        </p:nvSpPr>
        <p:spPr>
          <a:xfrm>
            <a:off x="1211465" y="3703194"/>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12376A76-B8AC-09D6-77C3-A104994F5084}"/>
              </a:ext>
            </a:extLst>
          </p:cNvPr>
          <p:cNvSpPr/>
          <p:nvPr/>
        </p:nvSpPr>
        <p:spPr>
          <a:xfrm>
            <a:off x="1211465" y="4267341"/>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049D830F-E056-72A0-B53C-DCBF8E351EAF}"/>
              </a:ext>
            </a:extLst>
          </p:cNvPr>
          <p:cNvSpPr/>
          <p:nvPr/>
        </p:nvSpPr>
        <p:spPr>
          <a:xfrm>
            <a:off x="1211465" y="4829897"/>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D42A25E9-8CBC-8355-23A4-DE9829038485}"/>
              </a:ext>
            </a:extLst>
          </p:cNvPr>
          <p:cNvSpPr/>
          <p:nvPr/>
        </p:nvSpPr>
        <p:spPr>
          <a:xfrm>
            <a:off x="1188982" y="5790036"/>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4824506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FF082C-DD4F-6DB0-B4FC-809DAF74542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2E9DCDB-006C-0941-1CEE-8FE3F28996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02ED7A6F-7974-E060-8943-829E00A7A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8507CC8B-F2B2-0DFB-F70B-8E5A8074D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75659E6D-2A6D-63ED-D4D9-828958F28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FFDD9D83-0E1F-B153-5A4E-E42A99CBA9BC}"/>
              </a:ext>
            </a:extLst>
          </p:cNvPr>
          <p:cNvSpPr>
            <a:spLocks noGrp="1"/>
          </p:cNvSpPr>
          <p:nvPr>
            <p:ph type="title"/>
          </p:nvPr>
        </p:nvSpPr>
        <p:spPr>
          <a:xfrm>
            <a:off x="1103312" y="452718"/>
            <a:ext cx="8947522" cy="1400530"/>
          </a:xfrm>
        </p:spPr>
        <p:txBody>
          <a:bodyPr anchor="ctr">
            <a:normAutofit/>
          </a:bodyPr>
          <a:lstStyle/>
          <a:p>
            <a:r>
              <a:rPr lang="en-IN" sz="4800" dirty="0">
                <a:solidFill>
                  <a:schemeClr val="bg1"/>
                </a:solidFill>
              </a:rPr>
              <a:t>FEATURE EXTRACTION (TF-IDF)</a:t>
            </a:r>
          </a:p>
        </p:txBody>
      </p:sp>
      <p:sp>
        <p:nvSpPr>
          <p:cNvPr id="15" name="Rectangle 3">
            <a:extLst>
              <a:ext uri="{FF2B5EF4-FFF2-40B4-BE49-F238E27FC236}">
                <a16:creationId xmlns:a16="http://schemas.microsoft.com/office/drawing/2014/main" id="{E5BCE527-4B6F-CD46-EB3F-36F77870063F}"/>
              </a:ext>
            </a:extLst>
          </p:cNvPr>
          <p:cNvSpPr>
            <a:spLocks noGrp="1" noChangeArrowheads="1"/>
          </p:cNvSpPr>
          <p:nvPr>
            <p:ph idx="1"/>
          </p:nvPr>
        </p:nvSpPr>
        <p:spPr bwMode="auto">
          <a:xfrm>
            <a:off x="1103312" y="2121760"/>
            <a:ext cx="10803552" cy="2503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t>TF-IDF converts text into numerical form.</a:t>
            </a:r>
          </a:p>
          <a:p>
            <a:r>
              <a:rPr lang="en-US" sz="2800" b="1" dirty="0"/>
              <a:t>Why needed?</a:t>
            </a:r>
            <a:br>
              <a:rPr lang="en-US" sz="2800" dirty="0"/>
            </a:br>
            <a:r>
              <a:rPr lang="en-US" sz="2800" dirty="0"/>
              <a:t>Computers cannot understand words directly.</a:t>
            </a:r>
          </a:p>
          <a:p>
            <a:r>
              <a:rPr lang="en-US" sz="2800" dirty="0"/>
              <a:t>Example: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u="none" strike="noStrike" cap="none" normalizeH="0" baseline="0" dirty="0">
              <a:ln>
                <a:noFill/>
              </a:ln>
              <a:solidFill>
                <a:schemeClr val="tx1"/>
              </a:solidFill>
              <a:effectLst/>
            </a:endParaRPr>
          </a:p>
        </p:txBody>
      </p:sp>
      <p:pic>
        <p:nvPicPr>
          <p:cNvPr id="4" name="Picture 3">
            <a:extLst>
              <a:ext uri="{FF2B5EF4-FFF2-40B4-BE49-F238E27FC236}">
                <a16:creationId xmlns:a16="http://schemas.microsoft.com/office/drawing/2014/main" id="{C5A7D092-C209-D39F-9669-E2A2F8118ABC}"/>
              </a:ext>
            </a:extLst>
          </p:cNvPr>
          <p:cNvPicPr>
            <a:picLocks noChangeAspect="1"/>
          </p:cNvPicPr>
          <p:nvPr/>
        </p:nvPicPr>
        <p:blipFill>
          <a:blip r:embed="rId2"/>
          <a:stretch>
            <a:fillRect/>
          </a:stretch>
        </p:blipFill>
        <p:spPr>
          <a:xfrm>
            <a:off x="1467103" y="4257368"/>
            <a:ext cx="6348010" cy="1676990"/>
          </a:xfrm>
          <a:prstGeom prst="rect">
            <a:avLst/>
          </a:prstGeom>
        </p:spPr>
      </p:pic>
      <p:cxnSp>
        <p:nvCxnSpPr>
          <p:cNvPr id="7" name="Straight Connector 6">
            <a:extLst>
              <a:ext uri="{FF2B5EF4-FFF2-40B4-BE49-F238E27FC236}">
                <a16:creationId xmlns:a16="http://schemas.microsoft.com/office/drawing/2014/main" id="{7ED7E906-8EAE-BC8B-4CFC-A3ECB8EBC76C}"/>
              </a:ext>
            </a:extLst>
          </p:cNvPr>
          <p:cNvCxnSpPr/>
          <p:nvPr/>
        </p:nvCxnSpPr>
        <p:spPr>
          <a:xfrm>
            <a:off x="1445342" y="4227871"/>
            <a:ext cx="6381135"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187FEA92-D0C5-6498-186D-AAAC1C692109}"/>
              </a:ext>
            </a:extLst>
          </p:cNvPr>
          <p:cNvCxnSpPr/>
          <p:nvPr/>
        </p:nvCxnSpPr>
        <p:spPr>
          <a:xfrm>
            <a:off x="1467103" y="5934358"/>
            <a:ext cx="6359374"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6C6C2FB9-E1A0-1CDA-6704-447A3AF6FE26}"/>
              </a:ext>
            </a:extLst>
          </p:cNvPr>
          <p:cNvCxnSpPr/>
          <p:nvPr/>
        </p:nvCxnSpPr>
        <p:spPr>
          <a:xfrm>
            <a:off x="7826477" y="4227871"/>
            <a:ext cx="0" cy="1706487"/>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47D977B9-B3A7-2A60-B37D-839088288732}"/>
              </a:ext>
            </a:extLst>
          </p:cNvPr>
          <p:cNvCxnSpPr/>
          <p:nvPr/>
        </p:nvCxnSpPr>
        <p:spPr>
          <a:xfrm>
            <a:off x="1467103" y="4227871"/>
            <a:ext cx="0" cy="1706487"/>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618412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77F4BB-8278-D7AC-D882-D8664C9E3E5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FE84F9C-F8DD-60D1-F658-2212EC987E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D6938412-46B4-1608-7583-DB718A8F0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A3C18430-6E3F-E353-37DE-1C0F54D73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EBD85164-63CB-2685-3A14-B45680674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FB3A9648-CC77-BC3A-DCF3-1E5606505E72}"/>
              </a:ext>
            </a:extLst>
          </p:cNvPr>
          <p:cNvSpPr>
            <a:spLocks noGrp="1"/>
          </p:cNvSpPr>
          <p:nvPr>
            <p:ph type="title"/>
          </p:nvPr>
        </p:nvSpPr>
        <p:spPr>
          <a:xfrm>
            <a:off x="1103312" y="452718"/>
            <a:ext cx="8947522" cy="1400530"/>
          </a:xfrm>
        </p:spPr>
        <p:txBody>
          <a:bodyPr anchor="ctr">
            <a:normAutofit/>
          </a:bodyPr>
          <a:lstStyle/>
          <a:p>
            <a:r>
              <a:rPr lang="en-IN" sz="6000" dirty="0">
                <a:solidFill>
                  <a:schemeClr val="bg1"/>
                </a:solidFill>
              </a:rPr>
              <a:t>MODEL USED </a:t>
            </a:r>
          </a:p>
        </p:txBody>
      </p:sp>
      <p:sp>
        <p:nvSpPr>
          <p:cNvPr id="15" name="Rectangle 3">
            <a:extLst>
              <a:ext uri="{FF2B5EF4-FFF2-40B4-BE49-F238E27FC236}">
                <a16:creationId xmlns:a16="http://schemas.microsoft.com/office/drawing/2014/main" id="{B94512B2-49A1-EFAE-F4F7-5F65138DFF6F}"/>
              </a:ext>
            </a:extLst>
          </p:cNvPr>
          <p:cNvSpPr>
            <a:spLocks noGrp="1" noChangeArrowheads="1"/>
          </p:cNvSpPr>
          <p:nvPr>
            <p:ph idx="1"/>
          </p:nvPr>
        </p:nvSpPr>
        <p:spPr bwMode="auto">
          <a:xfrm>
            <a:off x="1103313" y="2631249"/>
            <a:ext cx="10803552" cy="3749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800" b="1" dirty="0"/>
              <a:t>Algorithm:</a:t>
            </a:r>
            <a:r>
              <a:rPr lang="en-US" sz="2800" dirty="0"/>
              <a:t> Multinomial Naive Bayes</a:t>
            </a:r>
          </a:p>
          <a:p>
            <a:pPr marL="0" indent="0">
              <a:buNone/>
            </a:pPr>
            <a:r>
              <a:rPr lang="en-US" sz="2800" b="1" i="1" u="sng" dirty="0"/>
              <a:t>Why Naive Bayes?</a:t>
            </a:r>
          </a:p>
          <a:p>
            <a:r>
              <a:rPr lang="en-US" sz="2800" dirty="0"/>
              <a:t>Fast</a:t>
            </a:r>
          </a:p>
          <a:p>
            <a:r>
              <a:rPr lang="en-US" sz="2800" dirty="0"/>
              <a:t>Works well for text classification</a:t>
            </a:r>
          </a:p>
          <a:p>
            <a:r>
              <a:rPr lang="en-US" sz="2800" dirty="0"/>
              <a:t>Memory efficient</a:t>
            </a:r>
          </a:p>
          <a:p>
            <a:r>
              <a:rPr lang="en-US" sz="2800" dirty="0"/>
              <a:t>Good baseline model for NLP</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u="none" strike="noStrike" cap="none" normalizeH="0" baseline="0" dirty="0">
              <a:ln>
                <a:noFill/>
              </a:ln>
              <a:solidFill>
                <a:schemeClr val="tx1"/>
              </a:solidFill>
              <a:effectLst/>
            </a:endParaRPr>
          </a:p>
        </p:txBody>
      </p:sp>
      <p:sp>
        <p:nvSpPr>
          <p:cNvPr id="3" name="Arrow: Right 2">
            <a:extLst>
              <a:ext uri="{FF2B5EF4-FFF2-40B4-BE49-F238E27FC236}">
                <a16:creationId xmlns:a16="http://schemas.microsoft.com/office/drawing/2014/main" id="{245A61D1-1159-3B8C-4A75-663CA1103143}"/>
              </a:ext>
            </a:extLst>
          </p:cNvPr>
          <p:cNvSpPr/>
          <p:nvPr/>
        </p:nvSpPr>
        <p:spPr>
          <a:xfrm>
            <a:off x="1218478" y="3933371"/>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Arrow: Right 3">
            <a:extLst>
              <a:ext uri="{FF2B5EF4-FFF2-40B4-BE49-F238E27FC236}">
                <a16:creationId xmlns:a16="http://schemas.microsoft.com/office/drawing/2014/main" id="{CE933F2F-3B96-F017-A174-8CF840A5A954}"/>
              </a:ext>
            </a:extLst>
          </p:cNvPr>
          <p:cNvSpPr/>
          <p:nvPr/>
        </p:nvSpPr>
        <p:spPr>
          <a:xfrm>
            <a:off x="1210740" y="450317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72C10AE4-152A-885B-67A3-2122A7672CC1}"/>
              </a:ext>
            </a:extLst>
          </p:cNvPr>
          <p:cNvSpPr/>
          <p:nvPr/>
        </p:nvSpPr>
        <p:spPr>
          <a:xfrm>
            <a:off x="1210740" y="5071879"/>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521A829E-6640-7B0F-556D-AF2F9C447A50}"/>
              </a:ext>
            </a:extLst>
          </p:cNvPr>
          <p:cNvSpPr/>
          <p:nvPr/>
        </p:nvSpPr>
        <p:spPr>
          <a:xfrm>
            <a:off x="1210739" y="565928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169788533"/>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08A38A-BDCE-29B9-E735-798AC4B5DDF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45206DA-8FE5-1A28-6A99-266F8E422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80040E60-1C06-735F-E7AB-A9C1F9708F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BF02CF72-4A3D-40B7-941C-0057FC1A98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25735C9D-2190-C831-212E-5A6A7677A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A8FE633B-0917-5C16-FC12-5335148EFAE3}"/>
              </a:ext>
            </a:extLst>
          </p:cNvPr>
          <p:cNvSpPr>
            <a:spLocks noGrp="1"/>
          </p:cNvSpPr>
          <p:nvPr>
            <p:ph type="title"/>
          </p:nvPr>
        </p:nvSpPr>
        <p:spPr>
          <a:xfrm>
            <a:off x="1103312" y="452718"/>
            <a:ext cx="8947522" cy="1400530"/>
          </a:xfrm>
        </p:spPr>
        <p:txBody>
          <a:bodyPr anchor="ctr">
            <a:normAutofit/>
          </a:bodyPr>
          <a:lstStyle/>
          <a:p>
            <a:r>
              <a:rPr lang="en-IN" sz="6000" dirty="0">
                <a:solidFill>
                  <a:schemeClr val="bg1"/>
                </a:solidFill>
              </a:rPr>
              <a:t>RESULTS &amp; ACCURACY</a:t>
            </a:r>
          </a:p>
        </p:txBody>
      </p:sp>
      <p:sp>
        <p:nvSpPr>
          <p:cNvPr id="15" name="Rectangle 3">
            <a:extLst>
              <a:ext uri="{FF2B5EF4-FFF2-40B4-BE49-F238E27FC236}">
                <a16:creationId xmlns:a16="http://schemas.microsoft.com/office/drawing/2014/main" id="{08449DFE-54A0-89AD-1D41-922934775175}"/>
              </a:ext>
            </a:extLst>
          </p:cNvPr>
          <p:cNvSpPr>
            <a:spLocks noGrp="1" noChangeArrowheads="1"/>
          </p:cNvSpPr>
          <p:nvPr>
            <p:ph idx="1"/>
          </p:nvPr>
        </p:nvSpPr>
        <p:spPr bwMode="auto">
          <a:xfrm>
            <a:off x="1103313" y="1297550"/>
            <a:ext cx="10803552" cy="6417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sz="2800" dirty="0"/>
          </a:p>
          <a:p>
            <a:pPr marL="0" indent="0">
              <a:buNone/>
            </a:pPr>
            <a:r>
              <a:rPr lang="en-IN" sz="2800" b="1" u="sng" dirty="0"/>
              <a:t>Model Accuracy:</a:t>
            </a:r>
          </a:p>
          <a:p>
            <a:r>
              <a:rPr lang="en-IN" sz="2800" b="1" dirty="0"/>
              <a:t>~86.5%</a:t>
            </a:r>
            <a:endParaRPr lang="en-IN" sz="2800" dirty="0"/>
          </a:p>
          <a:p>
            <a:pPr marL="0" indent="0">
              <a:buNone/>
            </a:pPr>
            <a:r>
              <a:rPr lang="en-IN" sz="2800" b="1" u="sng" dirty="0"/>
              <a:t>Evaluation Metrics:</a:t>
            </a:r>
          </a:p>
          <a:p>
            <a:r>
              <a:rPr lang="en-IN" sz="2800" dirty="0"/>
              <a:t>Confusion Matrix</a:t>
            </a:r>
          </a:p>
          <a:p>
            <a:r>
              <a:rPr lang="en-IN" sz="2800" dirty="0"/>
              <a:t>Precision</a:t>
            </a:r>
          </a:p>
          <a:p>
            <a:r>
              <a:rPr lang="en-IN" sz="2800" dirty="0"/>
              <a:t>Recall</a:t>
            </a:r>
          </a:p>
          <a:p>
            <a:r>
              <a:rPr lang="en-IN" sz="2800" dirty="0"/>
              <a:t>F1 Score</a:t>
            </a:r>
          </a:p>
          <a:p>
            <a:pPr marL="0" indent="0">
              <a:buNone/>
            </a:pPr>
            <a:r>
              <a:rPr lang="en-IN" sz="2800" b="1" u="sng" dirty="0"/>
              <a:t>Conclusion:</a:t>
            </a:r>
            <a:br>
              <a:rPr lang="en-IN" sz="2800" dirty="0"/>
            </a:br>
            <a:r>
              <a:rPr lang="en-IN" sz="2800" dirty="0"/>
              <a:t>Model successfully identifies sentiment.</a:t>
            </a:r>
          </a:p>
          <a:p>
            <a:pPr marL="0" indent="0">
              <a:buNone/>
            </a:pPr>
            <a:endParaRPr lang="en-US" sz="28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u="none" strike="noStrike" cap="none" normalizeH="0" baseline="0" dirty="0">
              <a:ln>
                <a:noFill/>
              </a:ln>
              <a:solidFill>
                <a:schemeClr val="tx1"/>
              </a:solidFill>
              <a:effectLst/>
            </a:endParaRPr>
          </a:p>
        </p:txBody>
      </p:sp>
      <p:sp>
        <p:nvSpPr>
          <p:cNvPr id="6" name="Arrow: Right 5">
            <a:extLst>
              <a:ext uri="{FF2B5EF4-FFF2-40B4-BE49-F238E27FC236}">
                <a16:creationId xmlns:a16="http://schemas.microsoft.com/office/drawing/2014/main" id="{BED099D4-0FD2-5802-55EB-45814A1AC709}"/>
              </a:ext>
            </a:extLst>
          </p:cNvPr>
          <p:cNvSpPr/>
          <p:nvPr/>
        </p:nvSpPr>
        <p:spPr>
          <a:xfrm>
            <a:off x="1250071" y="5318134"/>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Arrow: Right 6">
            <a:extLst>
              <a:ext uri="{FF2B5EF4-FFF2-40B4-BE49-F238E27FC236}">
                <a16:creationId xmlns:a16="http://schemas.microsoft.com/office/drawing/2014/main" id="{CD6DC48F-C3CD-995B-4E76-ADFD93B3AD12}"/>
              </a:ext>
            </a:extLst>
          </p:cNvPr>
          <p:cNvSpPr/>
          <p:nvPr/>
        </p:nvSpPr>
        <p:spPr>
          <a:xfrm>
            <a:off x="1250071" y="480374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Right 8">
            <a:extLst>
              <a:ext uri="{FF2B5EF4-FFF2-40B4-BE49-F238E27FC236}">
                <a16:creationId xmlns:a16="http://schemas.microsoft.com/office/drawing/2014/main" id="{67047E37-D3D5-B6C5-7427-A74FA8FA4BE7}"/>
              </a:ext>
            </a:extLst>
          </p:cNvPr>
          <p:cNvSpPr/>
          <p:nvPr/>
        </p:nvSpPr>
        <p:spPr>
          <a:xfrm>
            <a:off x="1241613" y="4299986"/>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Right 10">
            <a:extLst>
              <a:ext uri="{FF2B5EF4-FFF2-40B4-BE49-F238E27FC236}">
                <a16:creationId xmlns:a16="http://schemas.microsoft.com/office/drawing/2014/main" id="{C1434616-218A-D3F3-07BC-A7B4D140457E}"/>
              </a:ext>
            </a:extLst>
          </p:cNvPr>
          <p:cNvSpPr/>
          <p:nvPr/>
        </p:nvSpPr>
        <p:spPr>
          <a:xfrm>
            <a:off x="1241613" y="3778268"/>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52456750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57C188-1599-A216-4301-650DFE376C0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1D1D6C5-08E7-4CF7-38B5-F211DBF820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04ABC268-4601-35B8-06ED-8B5F8B91E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137BC816-AE19-A5C4-D2A6-9BF73C4E1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59F4BE98-B148-A19B-4E0B-B532BBDEBD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BE41825C-A2BA-F93A-C256-DA9D5BEE558D}"/>
              </a:ext>
            </a:extLst>
          </p:cNvPr>
          <p:cNvSpPr>
            <a:spLocks noGrp="1"/>
          </p:cNvSpPr>
          <p:nvPr>
            <p:ph type="title"/>
          </p:nvPr>
        </p:nvSpPr>
        <p:spPr>
          <a:xfrm>
            <a:off x="1103312" y="452718"/>
            <a:ext cx="8947522" cy="1400530"/>
          </a:xfrm>
        </p:spPr>
        <p:txBody>
          <a:bodyPr anchor="ctr">
            <a:normAutofit/>
          </a:bodyPr>
          <a:lstStyle/>
          <a:p>
            <a:r>
              <a:rPr lang="en-IN" sz="6000" dirty="0">
                <a:solidFill>
                  <a:schemeClr val="bg1"/>
                </a:solidFill>
              </a:rPr>
              <a:t>ADVANTAGES </a:t>
            </a:r>
          </a:p>
        </p:txBody>
      </p:sp>
      <p:sp>
        <p:nvSpPr>
          <p:cNvPr id="15" name="Rectangle 3">
            <a:extLst>
              <a:ext uri="{FF2B5EF4-FFF2-40B4-BE49-F238E27FC236}">
                <a16:creationId xmlns:a16="http://schemas.microsoft.com/office/drawing/2014/main" id="{95D9EDBD-A488-98CB-266E-6E65CB1579A0}"/>
              </a:ext>
            </a:extLst>
          </p:cNvPr>
          <p:cNvSpPr>
            <a:spLocks noGrp="1" noChangeArrowheads="1"/>
          </p:cNvSpPr>
          <p:nvPr>
            <p:ph idx="1"/>
          </p:nvPr>
        </p:nvSpPr>
        <p:spPr bwMode="auto">
          <a:xfrm>
            <a:off x="1103313" y="3190376"/>
            <a:ext cx="10803552"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t>Fast automatic analysis</a:t>
            </a:r>
          </a:p>
          <a:p>
            <a:r>
              <a:rPr lang="en-US" sz="2800" dirty="0"/>
              <a:t>Works on large datasets</a:t>
            </a:r>
          </a:p>
          <a:p>
            <a:r>
              <a:rPr lang="en-US" sz="2800" dirty="0"/>
              <a:t>Reduces human effort</a:t>
            </a:r>
          </a:p>
          <a:p>
            <a:r>
              <a:rPr lang="en-US" sz="2800" dirty="0"/>
              <a:t>Can be used in business analytics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u="none" strike="noStrike" cap="none" normalizeH="0" baseline="0" dirty="0">
              <a:ln>
                <a:noFill/>
              </a:ln>
              <a:solidFill>
                <a:schemeClr val="tx1"/>
              </a:solidFill>
              <a:effectLst/>
            </a:endParaRPr>
          </a:p>
        </p:txBody>
      </p:sp>
      <p:sp>
        <p:nvSpPr>
          <p:cNvPr id="6" name="Arrow: Right 5">
            <a:extLst>
              <a:ext uri="{FF2B5EF4-FFF2-40B4-BE49-F238E27FC236}">
                <a16:creationId xmlns:a16="http://schemas.microsoft.com/office/drawing/2014/main" id="{8BD193F4-3C73-E3FF-2295-6B5B5C0870A2}"/>
              </a:ext>
            </a:extLst>
          </p:cNvPr>
          <p:cNvSpPr/>
          <p:nvPr/>
        </p:nvSpPr>
        <p:spPr>
          <a:xfrm>
            <a:off x="1239443" y="4973037"/>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Arrow: Right 6">
            <a:extLst>
              <a:ext uri="{FF2B5EF4-FFF2-40B4-BE49-F238E27FC236}">
                <a16:creationId xmlns:a16="http://schemas.microsoft.com/office/drawing/2014/main" id="{60329895-7074-D74C-A9F0-E01119B3E024}"/>
              </a:ext>
            </a:extLst>
          </p:cNvPr>
          <p:cNvSpPr/>
          <p:nvPr/>
        </p:nvSpPr>
        <p:spPr>
          <a:xfrm flipV="1">
            <a:off x="1241612" y="4476824"/>
            <a:ext cx="147485" cy="27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Right 8">
            <a:extLst>
              <a:ext uri="{FF2B5EF4-FFF2-40B4-BE49-F238E27FC236}">
                <a16:creationId xmlns:a16="http://schemas.microsoft.com/office/drawing/2014/main" id="{9F471A32-E4FA-BE6F-5F83-C6090B829975}"/>
              </a:ext>
            </a:extLst>
          </p:cNvPr>
          <p:cNvSpPr/>
          <p:nvPr/>
        </p:nvSpPr>
        <p:spPr>
          <a:xfrm>
            <a:off x="1241612" y="3932671"/>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Right 10">
            <a:extLst>
              <a:ext uri="{FF2B5EF4-FFF2-40B4-BE49-F238E27FC236}">
                <a16:creationId xmlns:a16="http://schemas.microsoft.com/office/drawing/2014/main" id="{1849C528-4354-4669-AA0B-187C6ACF15BB}"/>
              </a:ext>
            </a:extLst>
          </p:cNvPr>
          <p:cNvSpPr/>
          <p:nvPr/>
        </p:nvSpPr>
        <p:spPr>
          <a:xfrm>
            <a:off x="1241613" y="3381707"/>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50541868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13F5F9-B3BD-9CF3-C3A3-698CA1E0B41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5F7C4AD-C646-E176-5171-CB8401EF3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3721EDF6-B67B-597C-6425-45330F1A58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71683D9D-0D1A-0A73-A81A-D9F123671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EAAB266-D853-6196-E4F3-61F352769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405E2E75-25E9-30BF-7573-F3B11928B636}"/>
              </a:ext>
            </a:extLst>
          </p:cNvPr>
          <p:cNvSpPr>
            <a:spLocks noGrp="1"/>
          </p:cNvSpPr>
          <p:nvPr>
            <p:ph type="title"/>
          </p:nvPr>
        </p:nvSpPr>
        <p:spPr>
          <a:xfrm>
            <a:off x="1103312" y="452718"/>
            <a:ext cx="8947522" cy="1400530"/>
          </a:xfrm>
        </p:spPr>
        <p:txBody>
          <a:bodyPr anchor="ctr">
            <a:normAutofit/>
          </a:bodyPr>
          <a:lstStyle/>
          <a:p>
            <a:r>
              <a:rPr lang="en-IN" sz="6000" dirty="0">
                <a:solidFill>
                  <a:schemeClr val="bg1"/>
                </a:solidFill>
              </a:rPr>
              <a:t>APPLICATIONS </a:t>
            </a:r>
          </a:p>
        </p:txBody>
      </p:sp>
      <p:sp>
        <p:nvSpPr>
          <p:cNvPr id="15" name="Rectangle 3">
            <a:extLst>
              <a:ext uri="{FF2B5EF4-FFF2-40B4-BE49-F238E27FC236}">
                <a16:creationId xmlns:a16="http://schemas.microsoft.com/office/drawing/2014/main" id="{F6937DA1-D810-E106-AF5A-E246C3D4E3C5}"/>
              </a:ext>
            </a:extLst>
          </p:cNvPr>
          <p:cNvSpPr>
            <a:spLocks noGrp="1" noChangeArrowheads="1"/>
          </p:cNvSpPr>
          <p:nvPr>
            <p:ph idx="1"/>
          </p:nvPr>
        </p:nvSpPr>
        <p:spPr bwMode="auto">
          <a:xfrm>
            <a:off x="1103313" y="3405821"/>
            <a:ext cx="10803552" cy="2200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dirty="0"/>
              <a:t>Product review analysis</a:t>
            </a:r>
          </a:p>
          <a:p>
            <a:r>
              <a:rPr lang="en-IN" sz="2800" dirty="0"/>
              <a:t>Social media monitoring</a:t>
            </a:r>
          </a:p>
          <a:p>
            <a:r>
              <a:rPr lang="en-IN" sz="2800" dirty="0"/>
              <a:t>Customer feedback systems</a:t>
            </a:r>
          </a:p>
          <a:p>
            <a:r>
              <a:rPr lang="en-IN" sz="2800" dirty="0"/>
              <a:t>Movie recommendation platforms</a:t>
            </a:r>
            <a:endParaRPr kumimoji="0" lang="en-US" altLang="en-US" sz="2800" u="none" strike="noStrike" cap="none" normalizeH="0" baseline="0" dirty="0">
              <a:ln>
                <a:noFill/>
              </a:ln>
              <a:solidFill>
                <a:schemeClr val="tx1"/>
              </a:solidFill>
              <a:effectLst/>
            </a:endParaRPr>
          </a:p>
        </p:txBody>
      </p:sp>
      <p:sp>
        <p:nvSpPr>
          <p:cNvPr id="6" name="Arrow: Right 5">
            <a:extLst>
              <a:ext uri="{FF2B5EF4-FFF2-40B4-BE49-F238E27FC236}">
                <a16:creationId xmlns:a16="http://schemas.microsoft.com/office/drawing/2014/main" id="{A86CAA01-428E-0DCF-36B2-E553C43F5F42}"/>
              </a:ext>
            </a:extLst>
          </p:cNvPr>
          <p:cNvSpPr/>
          <p:nvPr/>
        </p:nvSpPr>
        <p:spPr>
          <a:xfrm>
            <a:off x="1241611" y="5242020"/>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Arrow: Right 6">
            <a:extLst>
              <a:ext uri="{FF2B5EF4-FFF2-40B4-BE49-F238E27FC236}">
                <a16:creationId xmlns:a16="http://schemas.microsoft.com/office/drawing/2014/main" id="{61D51DF1-8ED1-71F9-CF26-E3E7BF72522F}"/>
              </a:ext>
            </a:extLst>
          </p:cNvPr>
          <p:cNvSpPr/>
          <p:nvPr/>
        </p:nvSpPr>
        <p:spPr>
          <a:xfrm flipV="1">
            <a:off x="1241611" y="4691056"/>
            <a:ext cx="147485" cy="27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Right 8">
            <a:extLst>
              <a:ext uri="{FF2B5EF4-FFF2-40B4-BE49-F238E27FC236}">
                <a16:creationId xmlns:a16="http://schemas.microsoft.com/office/drawing/2014/main" id="{02023219-150C-B8DE-2147-D5F03AE2A1DF}"/>
              </a:ext>
            </a:extLst>
          </p:cNvPr>
          <p:cNvSpPr/>
          <p:nvPr/>
        </p:nvSpPr>
        <p:spPr>
          <a:xfrm>
            <a:off x="1241610" y="4157531"/>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Right 10">
            <a:extLst>
              <a:ext uri="{FF2B5EF4-FFF2-40B4-BE49-F238E27FC236}">
                <a16:creationId xmlns:a16="http://schemas.microsoft.com/office/drawing/2014/main" id="{4106DC7F-C9EA-EDDC-8E08-5A699AB2B862}"/>
              </a:ext>
            </a:extLst>
          </p:cNvPr>
          <p:cNvSpPr/>
          <p:nvPr/>
        </p:nvSpPr>
        <p:spPr>
          <a:xfrm>
            <a:off x="1249272" y="359823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083433190"/>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D18351-AC33-37F6-E1FF-BE37F9ED871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B91619E-06AF-C063-9D67-E9D3E8B96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AC04A64E-BFF5-D080-B395-189A02F9A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BA7A4861-D4C1-2431-5EBB-1C94D7B1F6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DB3CCC37-F7CE-DD95-8F69-CDAE42679D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31FC7983-D903-F2F5-CF07-1691638F2484}"/>
              </a:ext>
            </a:extLst>
          </p:cNvPr>
          <p:cNvSpPr>
            <a:spLocks noGrp="1"/>
          </p:cNvSpPr>
          <p:nvPr>
            <p:ph type="title"/>
          </p:nvPr>
        </p:nvSpPr>
        <p:spPr>
          <a:xfrm>
            <a:off x="1103312" y="452718"/>
            <a:ext cx="8947522" cy="1400530"/>
          </a:xfrm>
        </p:spPr>
        <p:txBody>
          <a:bodyPr anchor="ctr">
            <a:normAutofit/>
          </a:bodyPr>
          <a:lstStyle/>
          <a:p>
            <a:r>
              <a:rPr lang="en-IN" sz="6000" dirty="0">
                <a:solidFill>
                  <a:schemeClr val="bg1"/>
                </a:solidFill>
              </a:rPr>
              <a:t>FUTURE IMPROVEMENTS </a:t>
            </a:r>
          </a:p>
        </p:txBody>
      </p:sp>
      <p:sp>
        <p:nvSpPr>
          <p:cNvPr id="15" name="Rectangle 3">
            <a:extLst>
              <a:ext uri="{FF2B5EF4-FFF2-40B4-BE49-F238E27FC236}">
                <a16:creationId xmlns:a16="http://schemas.microsoft.com/office/drawing/2014/main" id="{6876EC55-538F-57B8-7666-CCA71B35CA9E}"/>
              </a:ext>
            </a:extLst>
          </p:cNvPr>
          <p:cNvSpPr>
            <a:spLocks noGrp="1" noChangeArrowheads="1"/>
          </p:cNvSpPr>
          <p:nvPr>
            <p:ph idx="1"/>
          </p:nvPr>
        </p:nvSpPr>
        <p:spPr bwMode="auto">
          <a:xfrm>
            <a:off x="1103313" y="3405821"/>
            <a:ext cx="10803552" cy="2200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t>Add Neutral sentiment</a:t>
            </a:r>
          </a:p>
          <a:p>
            <a:r>
              <a:rPr lang="en-US" sz="2800" dirty="0"/>
              <a:t>Use Deep Learning (LSTM/BERT)</a:t>
            </a:r>
          </a:p>
          <a:p>
            <a:r>
              <a:rPr lang="en-US" sz="2800" dirty="0"/>
              <a:t>Create web app interface</a:t>
            </a:r>
          </a:p>
          <a:p>
            <a:r>
              <a:rPr lang="en-US" sz="2800" dirty="0"/>
              <a:t>Real-time Twitter sentiment tracking</a:t>
            </a:r>
          </a:p>
        </p:txBody>
      </p:sp>
      <p:sp>
        <p:nvSpPr>
          <p:cNvPr id="6" name="Arrow: Right 5">
            <a:extLst>
              <a:ext uri="{FF2B5EF4-FFF2-40B4-BE49-F238E27FC236}">
                <a16:creationId xmlns:a16="http://schemas.microsoft.com/office/drawing/2014/main" id="{A0D9718A-C4B0-1C8A-DF50-FBC769BA3439}"/>
              </a:ext>
            </a:extLst>
          </p:cNvPr>
          <p:cNvSpPr/>
          <p:nvPr/>
        </p:nvSpPr>
        <p:spPr>
          <a:xfrm>
            <a:off x="1241611" y="5242020"/>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Arrow: Right 6">
            <a:extLst>
              <a:ext uri="{FF2B5EF4-FFF2-40B4-BE49-F238E27FC236}">
                <a16:creationId xmlns:a16="http://schemas.microsoft.com/office/drawing/2014/main" id="{CF226C4C-57FA-37D1-B31E-EF5BE059E3FF}"/>
              </a:ext>
            </a:extLst>
          </p:cNvPr>
          <p:cNvSpPr/>
          <p:nvPr/>
        </p:nvSpPr>
        <p:spPr>
          <a:xfrm flipV="1">
            <a:off x="1241611" y="4691056"/>
            <a:ext cx="147485" cy="27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Right 8">
            <a:extLst>
              <a:ext uri="{FF2B5EF4-FFF2-40B4-BE49-F238E27FC236}">
                <a16:creationId xmlns:a16="http://schemas.microsoft.com/office/drawing/2014/main" id="{3807C007-0568-60CF-C4B1-3EA4E9EAEC31}"/>
              </a:ext>
            </a:extLst>
          </p:cNvPr>
          <p:cNvSpPr/>
          <p:nvPr/>
        </p:nvSpPr>
        <p:spPr>
          <a:xfrm>
            <a:off x="1241610" y="4157531"/>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Right 10">
            <a:extLst>
              <a:ext uri="{FF2B5EF4-FFF2-40B4-BE49-F238E27FC236}">
                <a16:creationId xmlns:a16="http://schemas.microsoft.com/office/drawing/2014/main" id="{0997E478-4562-584C-6E07-8DB84F6D080E}"/>
              </a:ext>
            </a:extLst>
          </p:cNvPr>
          <p:cNvSpPr/>
          <p:nvPr/>
        </p:nvSpPr>
        <p:spPr>
          <a:xfrm>
            <a:off x="1249272" y="359823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483015026"/>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4980C7-9CBE-7557-DF65-722DB0FDD3E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F29DFA0-6D11-5369-AFF2-319C161B7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F8F962F3-DB84-2051-F635-A9A43F513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4D3ECB43-8036-64E5-C2DD-0A38536CE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8BFE602-7B2D-9D23-3289-3C7B1F1E8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BD3C41E8-E186-87A7-A9D9-9EFCDFD8F513}"/>
              </a:ext>
            </a:extLst>
          </p:cNvPr>
          <p:cNvSpPr>
            <a:spLocks noGrp="1"/>
          </p:cNvSpPr>
          <p:nvPr>
            <p:ph type="title"/>
          </p:nvPr>
        </p:nvSpPr>
        <p:spPr>
          <a:xfrm>
            <a:off x="1103312" y="452718"/>
            <a:ext cx="8947522" cy="1400530"/>
          </a:xfrm>
        </p:spPr>
        <p:txBody>
          <a:bodyPr anchor="ctr">
            <a:normAutofit/>
          </a:bodyPr>
          <a:lstStyle/>
          <a:p>
            <a:r>
              <a:rPr lang="en-IN" sz="6000" dirty="0">
                <a:solidFill>
                  <a:schemeClr val="bg1"/>
                </a:solidFill>
              </a:rPr>
              <a:t>CONCLUSION </a:t>
            </a:r>
          </a:p>
        </p:txBody>
      </p:sp>
      <p:sp>
        <p:nvSpPr>
          <p:cNvPr id="15" name="Rectangle 3">
            <a:extLst>
              <a:ext uri="{FF2B5EF4-FFF2-40B4-BE49-F238E27FC236}">
                <a16:creationId xmlns:a16="http://schemas.microsoft.com/office/drawing/2014/main" id="{870958C9-4686-C5B5-BEC9-CF1D43A73D31}"/>
              </a:ext>
            </a:extLst>
          </p:cNvPr>
          <p:cNvSpPr>
            <a:spLocks noGrp="1" noChangeArrowheads="1"/>
          </p:cNvSpPr>
          <p:nvPr>
            <p:ph idx="1"/>
          </p:nvPr>
        </p:nvSpPr>
        <p:spPr bwMode="auto">
          <a:xfrm>
            <a:off x="1103313" y="2846694"/>
            <a:ext cx="10803552" cy="3318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800" b="1" u="sng" dirty="0"/>
              <a:t>The project successfully demonstrates:</a:t>
            </a:r>
          </a:p>
          <a:p>
            <a:r>
              <a:rPr lang="en-US" sz="2800" dirty="0"/>
              <a:t>NLP preprocessing</a:t>
            </a:r>
          </a:p>
          <a:p>
            <a:r>
              <a:rPr lang="en-US" sz="2800" dirty="0"/>
              <a:t>Text vectorization</a:t>
            </a:r>
          </a:p>
          <a:p>
            <a:r>
              <a:rPr lang="en-US" sz="2800" dirty="0"/>
              <a:t>Machine learning classification</a:t>
            </a:r>
          </a:p>
          <a:p>
            <a:r>
              <a:rPr lang="en-US" sz="2800" dirty="0"/>
              <a:t>Real-time prediction system</a:t>
            </a:r>
          </a:p>
          <a:p>
            <a:pPr marL="0" indent="0">
              <a:buNone/>
            </a:pPr>
            <a:r>
              <a:rPr lang="en-US" sz="2800" dirty="0"/>
              <a:t>AI can efficiently understand human opinions from text.</a:t>
            </a:r>
          </a:p>
        </p:txBody>
      </p:sp>
      <p:sp>
        <p:nvSpPr>
          <p:cNvPr id="6" name="Arrow: Right 5">
            <a:extLst>
              <a:ext uri="{FF2B5EF4-FFF2-40B4-BE49-F238E27FC236}">
                <a16:creationId xmlns:a16="http://schemas.microsoft.com/office/drawing/2014/main" id="{0AC276C8-9CBA-334A-190C-62C9E40D0C11}"/>
              </a:ext>
            </a:extLst>
          </p:cNvPr>
          <p:cNvSpPr/>
          <p:nvPr/>
        </p:nvSpPr>
        <p:spPr>
          <a:xfrm>
            <a:off x="1241611" y="5242020"/>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Arrow: Right 6">
            <a:extLst>
              <a:ext uri="{FF2B5EF4-FFF2-40B4-BE49-F238E27FC236}">
                <a16:creationId xmlns:a16="http://schemas.microsoft.com/office/drawing/2014/main" id="{B697AED0-7E38-0B3C-96BA-A2F4961BEA6A}"/>
              </a:ext>
            </a:extLst>
          </p:cNvPr>
          <p:cNvSpPr/>
          <p:nvPr/>
        </p:nvSpPr>
        <p:spPr>
          <a:xfrm flipV="1">
            <a:off x="1241611" y="4691056"/>
            <a:ext cx="147485" cy="27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Right 8">
            <a:extLst>
              <a:ext uri="{FF2B5EF4-FFF2-40B4-BE49-F238E27FC236}">
                <a16:creationId xmlns:a16="http://schemas.microsoft.com/office/drawing/2014/main" id="{D9CC1C6E-490A-5F26-66DB-CEE16A69F595}"/>
              </a:ext>
            </a:extLst>
          </p:cNvPr>
          <p:cNvSpPr/>
          <p:nvPr/>
        </p:nvSpPr>
        <p:spPr>
          <a:xfrm>
            <a:off x="1241610" y="4157531"/>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Right 10">
            <a:extLst>
              <a:ext uri="{FF2B5EF4-FFF2-40B4-BE49-F238E27FC236}">
                <a16:creationId xmlns:a16="http://schemas.microsoft.com/office/drawing/2014/main" id="{47149216-4D96-46FE-0A2F-CEB6B53C0C57}"/>
              </a:ext>
            </a:extLst>
          </p:cNvPr>
          <p:cNvSpPr/>
          <p:nvPr/>
        </p:nvSpPr>
        <p:spPr>
          <a:xfrm>
            <a:off x="1249272" y="3598232"/>
            <a:ext cx="147485"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3370911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9C123-AFC6-D9BE-E95D-97F59C4327AB}"/>
              </a:ext>
            </a:extLst>
          </p:cNvPr>
          <p:cNvSpPr>
            <a:spLocks noGrp="1"/>
          </p:cNvSpPr>
          <p:nvPr>
            <p:ph type="title"/>
          </p:nvPr>
        </p:nvSpPr>
        <p:spPr>
          <a:xfrm>
            <a:off x="646111" y="2652764"/>
            <a:ext cx="9404723" cy="1326383"/>
          </a:xfrm>
        </p:spPr>
        <p:txBody>
          <a:bodyPr/>
          <a:lstStyle/>
          <a:p>
            <a:pPr algn="ctr"/>
            <a:r>
              <a:rPr lang="en-US" dirty="0"/>
              <a:t>       </a:t>
            </a:r>
            <a:r>
              <a:rPr lang="en-US" sz="7200" dirty="0"/>
              <a:t>THANK YOU </a:t>
            </a:r>
            <a:endParaRPr lang="en-IN" sz="7200" dirty="0"/>
          </a:p>
        </p:txBody>
      </p:sp>
    </p:spTree>
    <p:extLst>
      <p:ext uri="{BB962C8B-B14F-4D97-AF65-F5344CB8AC3E}">
        <p14:creationId xmlns:p14="http://schemas.microsoft.com/office/powerpoint/2010/main" val="42207102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178</TotalTime>
  <Words>401</Words>
  <Application>Microsoft Office PowerPoint</Application>
  <PresentationFormat>Widescreen</PresentationFormat>
  <Paragraphs>85</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Ion</vt:lpstr>
      <vt:lpstr>REVIEW SENTIMENT ANALYSIS </vt:lpstr>
      <vt:lpstr>People express opinions online through reviews and comments. Manually reading thousands of reviews is difficult.</vt:lpstr>
      <vt:lpstr>PROBLEM STATEMENT </vt:lpstr>
      <vt:lpstr>OBJECTIVES  </vt:lpstr>
      <vt:lpstr>DATASET </vt:lpstr>
      <vt:lpstr>Methodology(Workflow) </vt:lpstr>
      <vt:lpstr>TEXT PREPROCESSING </vt:lpstr>
      <vt:lpstr>FEATURE EXTRACTION (TF-IDF)</vt:lpstr>
      <vt:lpstr>MODEL USED </vt:lpstr>
      <vt:lpstr>RESULTS &amp; ACCURACY</vt:lpstr>
      <vt:lpstr>ADVANTAGES </vt:lpstr>
      <vt:lpstr>APPLICATIONS </vt:lpstr>
      <vt:lpstr>FUTURE IMPROVEMENTS </vt:lpstr>
      <vt:lpstr>CONCLUSION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Garvit Garg [CSE - 2024]</dc:creator>
  <cp:lastModifiedBy>Garvit Garg [CSE - 2024]</cp:lastModifiedBy>
  <cp:revision>2</cp:revision>
  <dcterms:created xsi:type="dcterms:W3CDTF">2026-02-15T14:03:28Z</dcterms:created>
  <dcterms:modified xsi:type="dcterms:W3CDTF">2026-02-15T18:14:23Z</dcterms:modified>
</cp:coreProperties>
</file>